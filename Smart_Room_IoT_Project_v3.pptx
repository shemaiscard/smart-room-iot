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5943600"/>
            <a:ext cx="12188952" cy="914400"/>
          </a:xfrm>
          <a:prstGeom prst="rect">
            <a:avLst/>
          </a:prstGeom>
          <a:solidFill>
            <a:srgbClr val="005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645920"/>
            <a:ext cx="10332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400" b="1" i="0">
                <a:solidFill>
                  <a:srgbClr val="0056D2"/>
                </a:solidFill>
                <a:latin typeface="Arial"/>
              </a:rPr>
              <a:t>Smart Room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10332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0" i="0">
                <a:solidFill>
                  <a:srgbClr val="4A4A4A"/>
                </a:solidFill>
                <a:latin typeface="Arial"/>
              </a:rPr>
              <a:t>IoT-Based Environmental Monitoring and Automated Control System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617220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FFFFFF"/>
                </a:solidFill>
                <a:latin typeface="Arial"/>
              </a:rPr>
              <a:t>Internet of Things (IoT) | Midterm Project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0" y="6172200"/>
            <a:ext cx="3017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600" b="1" i="0">
                <a:solidFill>
                  <a:srgbClr val="FFFFFF"/>
                </a:solidFill>
                <a:latin typeface="Arial"/>
              </a:rPr>
              <a:t>Shema Nkindi Giscard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0056D2"/>
                </a:solidFill>
                <a:latin typeface="Arial"/>
              </a:rPr>
              <a:t>Problem Definition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280160"/>
            <a:ext cx="10698480" cy="18288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1A1A1A"/>
                </a:solidFill>
                <a:latin typeface="Arial"/>
              </a:rPr>
              <a:t>-  Lack of real-time environmental monitoring in traditional living spaces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19456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1A1A1A"/>
                </a:solidFill>
                <a:latin typeface="Arial"/>
              </a:rPr>
              <a:t>-  High energy wastage due to unmanaged lighting and cooling systems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7432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1A1A1A"/>
                </a:solidFill>
                <a:latin typeface="Arial"/>
              </a:rPr>
              <a:t>-  Absence of remote monitoring and control capabilities for users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329184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1A1A1A"/>
                </a:solidFill>
                <a:latin typeface="Arial"/>
              </a:rPr>
              <a:t>-  Undetected environmental discomfort impacting productivity and health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84048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1A1A1A"/>
                </a:solidFill>
                <a:latin typeface="Arial"/>
              </a:rPr>
              <a:t>-  Potential safety hazards such as gas leaks or unauthorized access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438912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1A1A1A"/>
                </a:solidFill>
                <a:latin typeface="Arial"/>
              </a:rPr>
              <a:t>Proposed Solution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4937759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4A4A4A"/>
                </a:solidFill>
                <a:latin typeface="Arial"/>
              </a:rPr>
              <a:t>      A specialized Smart Room prototype focusing on integrated automation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5486399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4A4A4A"/>
                </a:solidFill>
                <a:latin typeface="Arial"/>
              </a:rPr>
              <a:t>      Real-time monitoring and control using high-efficiency IoT protocols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0056D2"/>
                </a:solidFill>
                <a:latin typeface="Arial"/>
              </a:rPr>
              <a:t>Technologies Used - Hardware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280160"/>
            <a:ext cx="10698480" cy="18288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1A1A1A"/>
                </a:solidFill>
                <a:latin typeface="Arial"/>
              </a:rPr>
              <a:t>-  ESP32 Microcontroller: Central processing with integrated WiFi connectivity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19456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1A1A1A"/>
                </a:solidFill>
                <a:latin typeface="Arial"/>
              </a:rPr>
              <a:t>-  DHT11 / DHT22 Sensors: Precision temperature and humidity measurement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7432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1A1A1A"/>
                </a:solidFill>
                <a:latin typeface="Arial"/>
              </a:rPr>
              <a:t>-  PIR Sensor: Advanced infrared technology for motion detection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329184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1A1A1A"/>
                </a:solidFill>
                <a:latin typeface="Arial"/>
              </a:rPr>
              <a:t>-  LDR: Sensing ambient light levels for automated illumination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84048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1A1A1A"/>
                </a:solidFill>
                <a:latin typeface="Arial"/>
              </a:rPr>
              <a:t>-  5V Relay Module: Safe switching of electrical appliances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438912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1A1A1A"/>
                </a:solidFill>
                <a:latin typeface="Arial"/>
              </a:rPr>
              <a:t>-  SG90 Servo Motor: Electromechanical control for smart entry systems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4937759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1A1A1A"/>
                </a:solidFill>
                <a:latin typeface="Arial"/>
              </a:rPr>
              <a:t>Network Protocol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5486399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4A4A4A"/>
                </a:solidFill>
                <a:latin typeface="Arial"/>
              </a:rPr>
              <a:t>      MQTT Protocol over 2.4GHz Wireless Network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0056D2"/>
                </a:solidFill>
                <a:latin typeface="Arial"/>
              </a:rPr>
              <a:t>Technologies Used - Software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280160"/>
            <a:ext cx="10698480" cy="18288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1A1A1A"/>
                </a:solidFill>
                <a:latin typeface="Arial"/>
              </a:rPr>
              <a:t>-  Arduino Framework: Hardware-level firmware for data acquisition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19456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1A1A1A"/>
                </a:solidFill>
                <a:latin typeface="Arial"/>
              </a:rPr>
              <a:t>-  MQTT Broker: Cloud-based communication hub for data routing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7432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1A1A1A"/>
                </a:solidFill>
                <a:latin typeface="Arial"/>
              </a:rPr>
              <a:t>-  Python 3: Server-side logic and simulation processing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329184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1A1A1A"/>
                </a:solidFill>
                <a:latin typeface="Arial"/>
              </a:rPr>
              <a:t>-  Streamlit Framework: Dynamic web application for data visualization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84048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1A1A1A"/>
                </a:solidFill>
                <a:latin typeface="Arial"/>
              </a:rPr>
              <a:t>-  Plotly Library: Interactive high-resolution analytical charting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438912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1A1A1A"/>
                </a:solidFill>
                <a:latin typeface="Arial"/>
              </a:rPr>
              <a:t>Deployment and Repository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4937759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4A4A4A"/>
                </a:solidFill>
                <a:latin typeface="Arial"/>
              </a:rPr>
              <a:t>      Hosted on Streamlit Cloud with direct GitHub integration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5486399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4A4A4A"/>
                </a:solidFill>
                <a:latin typeface="Arial"/>
              </a:rPr>
              <a:t>      Source Code: github.com/shemaiscard/smart-room-iot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0056D2"/>
                </a:solidFill>
                <a:latin typeface="Arial"/>
              </a:rPr>
              <a:t>Evidence of Progress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280160"/>
            <a:ext cx="10698480" cy="18288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1A1A1A"/>
                </a:solidFill>
                <a:latin typeface="Arial"/>
              </a:rPr>
              <a:t>-  Successful assembly and testing of the ESP32 hardware prototype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19456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1A1A1A"/>
                </a:solidFill>
                <a:latin typeface="Arial"/>
              </a:rPr>
              <a:t>-  Validated MQTT data transmission cycles between device and cloud broker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7432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1A1A1A"/>
                </a:solidFill>
                <a:latin typeface="Arial"/>
              </a:rPr>
              <a:t>-  Fully operational web dashboard displaying real-time sensor metrics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329184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1A1A1A"/>
                </a:solidFill>
                <a:latin typeface="Arial"/>
              </a:rPr>
              <a:t>-  Implementation of remote control logic for lights, fans, and door systems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84048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1A1A1A"/>
                </a:solidFill>
                <a:latin typeface="Arial"/>
              </a:rPr>
              <a:t>-  Verified seamless data flow from sensors to end-user interface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438912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1A1A1A"/>
                </a:solidFill>
                <a:latin typeface="Arial"/>
              </a:rPr>
              <a:t>-  Development of simulation tools for comprehensive system validation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0056D2"/>
                </a:solidFill>
                <a:latin typeface="Arial"/>
              </a:rPr>
              <a:t>Challenges and Next Steps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280160"/>
            <a:ext cx="10698480" cy="18288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1A1A1A"/>
                </a:solidFill>
                <a:latin typeface="Arial"/>
              </a:rPr>
              <a:t>Technical Challenges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19456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1A1A1A"/>
                </a:solidFill>
                <a:latin typeface="Arial"/>
              </a:rPr>
              <a:t>-  Managing connectivity stability in varied network environments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7432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1A1A1A"/>
                </a:solidFill>
                <a:latin typeface="Arial"/>
              </a:rPr>
              <a:t>-  Optimization of power consumption for extended device lifecycle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329184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1A1A1A"/>
                </a:solidFill>
                <a:latin typeface="Arial"/>
              </a:rPr>
              <a:t>-  Implementation of robust security layers for remote data access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84048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1A1A1A"/>
                </a:solidFill>
                <a:latin typeface="Arial"/>
              </a:rPr>
              <a:t>Future Enhancements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438912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1A1A1A"/>
                </a:solidFill>
                <a:latin typeface="Arial"/>
              </a:rPr>
              <a:t>-  Integration of voice-based command interfaces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4937759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1A1A1A"/>
                </a:solidFill>
                <a:latin typeface="Arial"/>
              </a:rPr>
              <a:t>-  Migration to industrial-grade cloud database solutions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5486399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1A1A1A"/>
                </a:solidFill>
                <a:latin typeface="Arial"/>
              </a:rPr>
              <a:t>-  Refinement of hardware design for a more compact form factor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1440"/>
          </a:xfrm>
          <a:prstGeom prst="rect">
            <a:avLst/>
          </a:prstGeom>
          <a:solidFill>
            <a:srgbClr val="005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286000"/>
            <a:ext cx="10332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 i="0">
                <a:solidFill>
                  <a:srgbClr val="0056D2"/>
                </a:solidFill>
                <a:latin typeface="Arial"/>
              </a:rPr>
              <a:t>Conclusion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474720"/>
            <a:ext cx="10332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 i="0">
                <a:solidFill>
                  <a:srgbClr val="4A4A4A"/>
                </a:solidFill>
                <a:latin typeface="Arial"/>
              </a:rPr>
              <a:t>Thank you for your attention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4572000"/>
            <a:ext cx="10332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4A4A4A"/>
                </a:solidFill>
                <a:latin typeface="Arial"/>
              </a:rPr>
              <a:t>Source Code Available at github.com/shemaiscard/smart-room-iot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